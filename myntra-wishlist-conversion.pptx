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01 | CONTEXT &amp; STRATEGIC GOAL</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Millions Wishlist Fashion Items, but 82% Cool Off Unpurchased after 30 Days</a:t>
            </a:r>
          </a:p>
        </p:txBody>
      </p:sp>
      <p:sp>
        <p:nvSpPr>
          <p:cNvPr id="6" name="Rounded Rectangle 5"/>
          <p:cNvSpPr/>
          <p:nvPr/>
        </p:nvSpPr>
        <p:spPr>
          <a:xfrm>
            <a:off x="548640" y="1234440"/>
            <a:ext cx="5394960"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53312"/>
            <a:ext cx="5120640" cy="4937760"/>
          </a:xfrm>
          <a:prstGeom prst="rect">
            <a:avLst/>
          </a:prstGeom>
          <a:noFill/>
        </p:spPr>
        <p:txBody>
          <a:bodyPr wrap="square">
            <a:spAutoFit/>
          </a:bodyPr>
          <a:lstStyle/>
          <a:p>
            <a:pPr>
              <a:defRPr sz="1400" b="1">
                <a:solidFill>
                  <a:srgbClr val="FF3F6C"/>
                </a:solidFill>
              </a:defRPr>
            </a:pPr>
            <a:r>
              <a:t>CURRENT REALITY (Baseline)</a:t>
            </a:r>
          </a:p>
          <a:p>
            <a:pPr>
              <a:defRPr sz="1150">
                <a:solidFill>
                  <a:srgbClr val="535766"/>
                </a:solidFill>
              </a:defRPr>
            </a:pPr>
            <a:r>
              <a:t>The average fashion shopper accumulates 35–120 wishlisted items over sales and daily browsing. However, 82% of saved products are never purchased within 30 days.</a:t>
            </a:r>
            <a:br/>
          </a:p>
          <a:p>
            <a:pPr>
              <a:defRPr sz="1400" b="1">
                <a:solidFill>
                  <a:srgbClr val="D97706"/>
                </a:solidFill>
              </a:defRPr>
            </a:pPr>
            <a:r>
              <a:t>WHY IT MATTERS (Hypothesis)</a:t>
            </a:r>
          </a:p>
          <a:p>
            <a:pPr>
              <a:defRPr sz="1150">
                <a:solidFill>
                  <a:srgbClr val="535766"/>
                </a:solidFill>
              </a:defRPr>
            </a:pPr>
            <a:r>
              <a:t>Wishlist accumulation without checkout is NOT a lack of interest—it is an early warning signal of sizing hesitation, price paranoia, and list clutter. Users who get trapped in dormant wishlists show lower overall LTV and higher churn risk.</a:t>
            </a:r>
          </a:p>
        </p:txBody>
      </p:sp>
      <p:sp>
        <p:nvSpPr>
          <p:cNvPr id="8" name="Rounded Rectangle 7"/>
          <p:cNvSpPr/>
          <p:nvPr/>
        </p:nvSpPr>
        <p:spPr>
          <a:xfrm>
            <a:off x="6126480" y="1234440"/>
            <a:ext cx="548640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353312"/>
            <a:ext cx="5212080" cy="4937760"/>
          </a:xfrm>
          <a:prstGeom prst="rect">
            <a:avLst/>
          </a:prstGeom>
          <a:noFill/>
        </p:spPr>
        <p:txBody>
          <a:bodyPr wrap="square">
            <a:spAutoFit/>
          </a:bodyPr>
          <a:lstStyle/>
          <a:p>
            <a:pPr>
              <a:defRPr sz="1400" b="1">
                <a:solidFill>
                  <a:srgbClr val="03A685"/>
                </a:solidFill>
              </a:defRPr>
            </a:pPr>
            <a:r>
              <a:t>STRATEGIC NORTH STAR GOAL</a:t>
            </a:r>
          </a:p>
          <a:p>
            <a:pPr>
              <a:defRPr sz="1200" b="1">
                <a:solidFill>
                  <a:srgbClr val="282C3F"/>
                </a:solidFill>
              </a:defRPr>
            </a:pPr>
            <a:r>
              <a:t>Increase 30-Day Wishlist-to-Purchase Conversion Rate by +350 bps (12% baseline → 15.5% target) under strict zero-discount constraints.</a:t>
            </a:r>
            <a:br/>
          </a:p>
          <a:p>
            <a:pPr>
              <a:defRPr sz="1200" b="1">
                <a:solidFill>
                  <a:srgbClr val="FF3F6C"/>
                </a:solidFill>
              </a:defRPr>
            </a:pPr>
            <a:r>
              <a:t>✔ Expand Conversion Potential</a:t>
            </a:r>
          </a:p>
          <a:p>
            <a:pPr>
              <a:defRPr sz="1100">
                <a:solidFill>
                  <a:srgbClr val="535766"/>
                </a:solidFill>
              </a:defRPr>
            </a:pPr>
            <a:r>
              <a:t>  Convert high-intent saved items into single-item checkouts without monetary price cuts.</a:t>
            </a:r>
          </a:p>
          <a:p>
            <a:pPr>
              <a:defRPr sz="1200" b="1">
                <a:solidFill>
                  <a:srgbClr val="FF3F6C"/>
                </a:solidFill>
              </a:defRPr>
            </a:pPr>
            <a:r>
              <a:t>✔ Eliminate Sizing &amp; Fabric Uncertainty</a:t>
            </a:r>
          </a:p>
          <a:p>
            <a:pPr>
              <a:defRPr sz="1100">
                <a:solidFill>
                  <a:srgbClr val="535766"/>
                </a:solidFill>
              </a:defRPr>
            </a:pPr>
            <a:r>
              <a:t>  Provide social proof try-on reviews &amp; true-to-size ratings directly on wishlist cards.</a:t>
            </a:r>
          </a:p>
          <a:p>
            <a:pPr>
              <a:defRPr sz="1200" b="1">
                <a:solidFill>
                  <a:srgbClr val="FF3F6C"/>
                </a:solidFill>
              </a:defRPr>
            </a:pPr>
            <a:r>
              <a:t>✔ Strengthen Long-Term Retain &amp; LTV</a:t>
            </a:r>
          </a:p>
          <a:p>
            <a:pPr>
              <a:defRPr sz="1100">
                <a:solidFill>
                  <a:srgbClr val="535766"/>
                </a:solidFill>
              </a:defRPr>
            </a:pPr>
            <a:r>
              <a:t>  Prevent high-intent saved items from getting buried under 100+ unorganized bookmarks.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02 | HYPOTHESIS &amp; BREAKDOWN</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Wishlist Engine Fails Because it Optimizes for Bookmarking Rather than Purchase Conversion</a:t>
            </a:r>
          </a:p>
        </p:txBody>
      </p:sp>
      <p:sp>
        <p:nvSpPr>
          <p:cNvPr id="6" name="Rounded Rectangle 5"/>
          <p:cNvSpPr/>
          <p:nvPr/>
        </p:nvSpPr>
        <p:spPr>
          <a:xfrm>
            <a:off x="548640" y="1234440"/>
            <a:ext cx="11094415" cy="114300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98448"/>
            <a:ext cx="10820095" cy="1005840"/>
          </a:xfrm>
          <a:prstGeom prst="rect">
            <a:avLst/>
          </a:prstGeom>
          <a:noFill/>
        </p:spPr>
        <p:txBody>
          <a:bodyPr wrap="square">
            <a:spAutoFit/>
          </a:bodyPr>
          <a:lstStyle/>
          <a:p>
            <a:pPr>
              <a:defRPr sz="1300" b="1">
                <a:solidFill>
                  <a:srgbClr val="FF3F6C"/>
                </a:solidFill>
              </a:defRPr>
            </a:pPr>
            <a:r>
              <a:t>HYPOTHESIZED STRUCTURAL BREAKDOWN</a:t>
            </a:r>
          </a:p>
          <a:p>
            <a:pPr>
              <a:defRPr sz="1150">
                <a:solidFill>
                  <a:srgbClr val="282C3F"/>
                </a:solidFill>
              </a:defRPr>
            </a:pPr>
            <a:r>
              <a:t>Myntra's wishlist experience is not broken—it is optimizing for bookmarking volume rather than purchase intent. Shoppers save 50+ items while scrolling, but once saved, the interface offers zero pre-purchase fit validation or occasion organization, causing intent to cool off.</a:t>
            </a:r>
          </a:p>
        </p:txBody>
      </p:sp>
      <p:sp>
        <p:nvSpPr>
          <p:cNvPr id="8" name="Rounded Rectangle 7"/>
          <p:cNvSpPr/>
          <p:nvPr/>
        </p:nvSpPr>
        <p:spPr>
          <a:xfrm>
            <a:off x="548640" y="2514600"/>
            <a:ext cx="3593592" cy="393192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33472"/>
            <a:ext cx="3319272" cy="3657600"/>
          </a:xfrm>
          <a:prstGeom prst="rect">
            <a:avLst/>
          </a:prstGeom>
          <a:noFill/>
        </p:spPr>
        <p:txBody>
          <a:bodyPr wrap="square">
            <a:spAutoFit/>
          </a:bodyPr>
          <a:lstStyle/>
          <a:p>
            <a:pPr>
              <a:defRPr sz="1300" b="1">
                <a:solidFill>
                  <a:srgbClr val="282C3F"/>
                </a:solidFill>
              </a:defRPr>
            </a:pPr>
            <a:r>
              <a:t>1. BOOKMARKING PHASE</a:t>
            </a:r>
          </a:p>
          <a:p>
            <a:pPr>
              <a:defRPr sz="1100" b="1">
                <a:solidFill>
                  <a:srgbClr val="D97706"/>
                </a:solidFill>
              </a:defRPr>
            </a:pPr>
            <a:r>
              <a:t>Optimized for Save Volume</a:t>
            </a:r>
          </a:p>
          <a:p>
            <a:pPr>
              <a:defRPr sz="1100">
                <a:solidFill>
                  <a:srgbClr val="535766"/>
                </a:solidFill>
              </a:defRPr>
            </a:pPr>
            <a:r>
              <a:t>User saves 50–100 items during EORS or commute scrolling.</a:t>
            </a:r>
          </a:p>
          <a:p>
            <a:pPr>
              <a:defRPr sz="1100">
                <a:solidFill>
                  <a:srgbClr val="535766"/>
                </a:solidFill>
              </a:defRPr>
            </a:pPr>
            <a:r>
              <a:t>Flaw:</a:t>
            </a:r>
            <a:br/>
            <a:r>
              <a:t>No prompt for size selection or intended occasion.</a:t>
            </a:r>
          </a:p>
        </p:txBody>
      </p:sp>
      <p:sp>
        <p:nvSpPr>
          <p:cNvPr id="10" name="Rounded Rectangle 9"/>
          <p:cNvSpPr/>
          <p:nvPr/>
        </p:nvSpPr>
        <p:spPr>
          <a:xfrm>
            <a:off x="4297679" y="2514600"/>
            <a:ext cx="3593592" cy="393192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633472"/>
            <a:ext cx="3319272" cy="3657600"/>
          </a:xfrm>
          <a:prstGeom prst="rect">
            <a:avLst/>
          </a:prstGeom>
          <a:noFill/>
        </p:spPr>
        <p:txBody>
          <a:bodyPr wrap="square">
            <a:spAutoFit/>
          </a:bodyPr>
          <a:lstStyle/>
          <a:p>
            <a:pPr>
              <a:defRPr sz="1300" b="1">
                <a:solidFill>
                  <a:srgbClr val="282C3F"/>
                </a:solidFill>
              </a:defRPr>
            </a:pPr>
            <a:r>
              <a:t>2. REVISIT &amp; RETRIEVAL PHASE</a:t>
            </a:r>
          </a:p>
          <a:p>
            <a:pPr>
              <a:defRPr sz="1100" b="1">
                <a:solidFill>
                  <a:srgbClr val="D97706"/>
                </a:solidFill>
              </a:defRPr>
            </a:pPr>
            <a:r>
              <a:t>Flat Unfiltered List</a:t>
            </a:r>
          </a:p>
          <a:p>
            <a:pPr>
              <a:defRPr sz="1100">
                <a:solidFill>
                  <a:srgbClr val="535766"/>
                </a:solidFill>
              </a:defRPr>
            </a:pPr>
            <a:r>
              <a:t>User reopens wishlist 7 days later.</a:t>
            </a:r>
          </a:p>
          <a:p>
            <a:pPr>
              <a:defRPr sz="1100">
                <a:solidFill>
                  <a:srgbClr val="535766"/>
                </a:solidFill>
              </a:defRPr>
            </a:pPr>
            <a:r>
              <a:t>Flaw:</a:t>
            </a:r>
            <a:br/>
            <a:r>
              <a:t>High-intent items get buried under 100+ unorganized cards, causing decision fatigue.</a:t>
            </a:r>
          </a:p>
        </p:txBody>
      </p:sp>
      <p:sp>
        <p:nvSpPr>
          <p:cNvPr id="12" name="Rounded Rectangle 11"/>
          <p:cNvSpPr/>
          <p:nvPr/>
        </p:nvSpPr>
        <p:spPr>
          <a:xfrm>
            <a:off x="8046719" y="2514600"/>
            <a:ext cx="3593592" cy="393192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2633472"/>
            <a:ext cx="3319272" cy="3657600"/>
          </a:xfrm>
          <a:prstGeom prst="rect">
            <a:avLst/>
          </a:prstGeom>
          <a:noFill/>
        </p:spPr>
        <p:txBody>
          <a:bodyPr wrap="square">
            <a:spAutoFit/>
          </a:bodyPr>
          <a:lstStyle/>
          <a:p>
            <a:pPr>
              <a:defRPr sz="1300" b="1">
                <a:solidFill>
                  <a:srgbClr val="FF3F6C"/>
                </a:solidFill>
              </a:defRPr>
            </a:pPr>
            <a:r>
              <a:t>3. CHECKOUT COMMITMENT PHASE</a:t>
            </a:r>
          </a:p>
          <a:p>
            <a:pPr>
              <a:defRPr sz="1100" b="1">
                <a:solidFill>
                  <a:srgbClr val="D97706"/>
                </a:solidFill>
              </a:defRPr>
            </a:pPr>
            <a:r>
              <a:t>Structural Friction Drop-Off</a:t>
            </a:r>
          </a:p>
          <a:p>
            <a:pPr>
              <a:defRPr sz="1100">
                <a:solidFill>
                  <a:srgbClr val="535766"/>
                </a:solidFill>
              </a:defRPr>
            </a:pPr>
            <a:r>
              <a:t>User considers buying.</a:t>
            </a:r>
          </a:p>
          <a:p>
            <a:pPr>
              <a:defRPr sz="1100">
                <a:solidFill>
                  <a:srgbClr val="535766"/>
                </a:solidFill>
              </a:defRPr>
            </a:pPr>
            <a:r>
              <a:t>Flaw:</a:t>
            </a:r>
            <a:br/>
            <a:r>
              <a:t>Fit anxiety (89.8%), price floor paranoia, and delivery fee halts checkout.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03 | REVIEWLENS AI DISCOVERY</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ReviewLens Engine Analyzes 20,703 Reviews to Uncover 3 Core Unmet Customer Needs</a:t>
            </a:r>
          </a:p>
        </p:txBody>
      </p:sp>
      <p:sp>
        <p:nvSpPr>
          <p:cNvPr id="6" name="Rounded Rectangle 5"/>
          <p:cNvSpPr/>
          <p:nvPr/>
        </p:nvSpPr>
        <p:spPr>
          <a:xfrm>
            <a:off x="548640" y="1234440"/>
            <a:ext cx="3593592" cy="164592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98448"/>
            <a:ext cx="3374136" cy="1508760"/>
          </a:xfrm>
          <a:prstGeom prst="rect">
            <a:avLst/>
          </a:prstGeom>
          <a:noFill/>
        </p:spPr>
        <p:txBody>
          <a:bodyPr wrap="square">
            <a:spAutoFit/>
          </a:bodyPr>
          <a:lstStyle/>
          <a:p>
            <a:pPr>
              <a:defRPr sz="1300" b="1">
                <a:solidFill>
                  <a:srgbClr val="FF3F6C"/>
                </a:solidFill>
              </a:defRPr>
            </a:pPr>
            <a:r>
              <a:t>N1. Fit &amp; Fabric Confidence</a:t>
            </a:r>
          </a:p>
          <a:p>
            <a:pPr>
              <a:defRPr sz="1100" b="1">
                <a:solidFill>
                  <a:srgbClr val="D97706"/>
                </a:solidFill>
              </a:defRPr>
            </a:pPr>
            <a:r>
              <a:t>2,252 Signals (89.8%)</a:t>
            </a:r>
          </a:p>
          <a:p>
            <a:pPr>
              <a:defRPr sz="1050">
                <a:solidFill>
                  <a:srgbClr val="535766"/>
                </a:solidFill>
              </a:defRPr>
            </a:pPr>
            <a:r>
              <a:t>Users demand real customer photos on similar Indian body types before purchasing.</a:t>
            </a:r>
          </a:p>
        </p:txBody>
      </p:sp>
      <p:sp>
        <p:nvSpPr>
          <p:cNvPr id="8" name="Rounded Rectangle 7"/>
          <p:cNvSpPr/>
          <p:nvPr/>
        </p:nvSpPr>
        <p:spPr>
          <a:xfrm>
            <a:off x="4297679" y="1234440"/>
            <a:ext cx="3593592" cy="164592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7" y="1298448"/>
            <a:ext cx="3374136" cy="1508760"/>
          </a:xfrm>
          <a:prstGeom prst="rect">
            <a:avLst/>
          </a:prstGeom>
          <a:noFill/>
        </p:spPr>
        <p:txBody>
          <a:bodyPr wrap="square">
            <a:spAutoFit/>
          </a:bodyPr>
          <a:lstStyle/>
          <a:p>
            <a:pPr>
              <a:defRPr sz="1300" b="1">
                <a:solidFill>
                  <a:srgbClr val="282C3F"/>
                </a:solidFill>
              </a:defRPr>
            </a:pPr>
            <a:r>
              <a:t>N2. Wishlist Anti-Clutter</a:t>
            </a:r>
          </a:p>
          <a:p>
            <a:pPr>
              <a:defRPr sz="1100" b="1">
                <a:solidFill>
                  <a:srgbClr val="D97706"/>
                </a:solidFill>
              </a:defRPr>
            </a:pPr>
            <a:r>
              <a:t>181 Signals (7.2%)</a:t>
            </a:r>
          </a:p>
          <a:p>
            <a:pPr>
              <a:defRPr sz="1050">
                <a:solidFill>
                  <a:srgbClr val="535766"/>
                </a:solidFill>
              </a:defRPr>
            </a:pPr>
            <a:r>
              <a:t>Users need automatic occasion categorization (Workwear, College, Festive) to find saved items.</a:t>
            </a:r>
          </a:p>
        </p:txBody>
      </p:sp>
      <p:sp>
        <p:nvSpPr>
          <p:cNvPr id="10" name="Rounded Rectangle 9"/>
          <p:cNvSpPr/>
          <p:nvPr/>
        </p:nvSpPr>
        <p:spPr>
          <a:xfrm>
            <a:off x="8046719" y="1234440"/>
            <a:ext cx="3593592" cy="164592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6447" y="1298448"/>
            <a:ext cx="3374136" cy="1508760"/>
          </a:xfrm>
          <a:prstGeom prst="rect">
            <a:avLst/>
          </a:prstGeom>
          <a:noFill/>
        </p:spPr>
        <p:txBody>
          <a:bodyPr wrap="square">
            <a:spAutoFit/>
          </a:bodyPr>
          <a:lstStyle/>
          <a:p>
            <a:pPr>
              <a:defRPr sz="1300" b="1">
                <a:solidFill>
                  <a:srgbClr val="282C3F"/>
                </a:solidFill>
              </a:defRPr>
            </a:pPr>
            <a:r>
              <a:t>N3. Price Floor Transparency</a:t>
            </a:r>
          </a:p>
          <a:p>
            <a:pPr>
              <a:defRPr sz="1100" b="1">
                <a:solidFill>
                  <a:srgbClr val="D97706"/>
                </a:solidFill>
              </a:defRPr>
            </a:pPr>
            <a:r>
              <a:t>91 Signals (3.6%)</a:t>
            </a:r>
          </a:p>
          <a:p>
            <a:pPr>
              <a:defRPr sz="1050">
                <a:solidFill>
                  <a:srgbClr val="535766"/>
                </a:solidFill>
              </a:defRPr>
            </a:pPr>
            <a:r>
              <a:t>Users want 60-day price floor tracking to buy without fear of post-purchase price drops.</a:t>
            </a:r>
          </a:p>
        </p:txBody>
      </p:sp>
      <p:sp>
        <p:nvSpPr>
          <p:cNvPr id="12" name="Rounded Rectangle 11"/>
          <p:cNvSpPr/>
          <p:nvPr/>
        </p:nvSpPr>
        <p:spPr>
          <a:xfrm>
            <a:off x="548640" y="3017520"/>
            <a:ext cx="11094415" cy="342900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27248"/>
            <a:ext cx="10728655" cy="3200400"/>
          </a:xfrm>
          <a:prstGeom prst="rect">
            <a:avLst/>
          </a:prstGeom>
          <a:noFill/>
        </p:spPr>
        <p:txBody>
          <a:bodyPr wrap="square">
            <a:spAutoFit/>
          </a:bodyPr>
          <a:lstStyle/>
          <a:p>
            <a:pPr>
              <a:defRPr sz="1400" b="1">
                <a:solidFill>
                  <a:srgbClr val="FF3F6C"/>
                </a:solidFill>
              </a:defRPr>
            </a:pPr>
            <a:r>
              <a:t>KEY TAKEAWAY FROM REVIEWLENS DISCOVERY ENGINE</a:t>
            </a:r>
          </a:p>
          <a:p>
            <a:pPr>
              <a:defRPr sz="1150">
                <a:solidFill>
                  <a:srgbClr val="282C3F"/>
                </a:solidFill>
              </a:defRPr>
            </a:pPr>
            <a:r>
              <a:t>Users want Myntra to provide pre-purchase fit reassurance and list curation—NOT extra price cuts. Conversion is blocked by risk aversion, not affordability.</a:t>
            </a:r>
            <a:br/>
          </a:p>
          <a:p>
            <a:pPr>
              <a:defRPr sz="1200" b="1">
                <a:solidFill>
                  <a:srgbClr val="03A685"/>
                </a:solidFill>
              </a:defRPr>
            </a:pPr>
            <a:r>
              <a:t>Ingested Corpus Breakdown (20,703 Records):</a:t>
            </a:r>
          </a:p>
          <a:p>
            <a:pPr>
              <a:defRPr sz="1100">
                <a:solidFill>
                  <a:srgbClr val="535766"/>
                </a:solidFill>
              </a:defRPr>
            </a:pPr>
            <a:r>
              <a:t>• Google Play Store India: 5,000 Android app reviews scraped &amp; keyword-screened.</a:t>
            </a:r>
          </a:p>
          <a:p>
            <a:pPr>
              <a:defRPr sz="1100">
                <a:solidFill>
                  <a:srgbClr val="535766"/>
                </a:solidFill>
              </a:defRPr>
            </a:pPr>
            <a:r>
              <a:t>• Apple App Store (Global &amp; IN): 2,500 iOS storefront reviews processed.</a:t>
            </a:r>
          </a:p>
          <a:p>
            <a:pPr>
              <a:defRPr sz="1100">
                <a:solidFill>
                  <a:srgbClr val="535766"/>
                </a:solidFill>
              </a:defRPr>
            </a:pPr>
            <a:r>
              <a:t>• Reddit r/myntra &amp; r/IndianFashionAddicts: Public discussion threads on sizing and wishlist habits.</a:t>
            </a:r>
          </a:p>
          <a:p>
            <a:pPr>
              <a:defRPr sz="1100">
                <a:solidFill>
                  <a:srgbClr val="535766"/>
                </a:solidFill>
              </a:defRPr>
            </a:pPr>
            <a:r>
              <a:t>• LLM Pipeline: Dual-provider Gemini 1.5 &amp; Groq LLaMA-3.3 automated batch classification.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04 | USER RESEARCH &amp; PERSONA</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Surveys (n=30) &amp; Qualitative Interviews (n=6) Validate Sizing &amp; Clutter Blockers</a:t>
            </a:r>
          </a:p>
        </p:txBody>
      </p:sp>
      <p:sp>
        <p:nvSpPr>
          <p:cNvPr id="6" name="Rounded Rectangle 5"/>
          <p:cNvSpPr/>
          <p:nvPr/>
        </p:nvSpPr>
        <p:spPr>
          <a:xfrm>
            <a:off x="548640" y="1234440"/>
            <a:ext cx="539496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53312"/>
            <a:ext cx="5120640" cy="4937760"/>
          </a:xfrm>
          <a:prstGeom prst="rect">
            <a:avLst/>
          </a:prstGeom>
          <a:noFill/>
        </p:spPr>
        <p:txBody>
          <a:bodyPr wrap="square">
            <a:spAutoFit/>
          </a:bodyPr>
          <a:lstStyle/>
          <a:p>
            <a:pPr>
              <a:defRPr sz="1300" b="1">
                <a:solidFill>
                  <a:srgbClr val="FF3F6C"/>
                </a:solidFill>
              </a:defRPr>
            </a:pPr>
            <a:r>
              <a:t>PRIMARY RESEARCH SUMMARY (n=30 Surveys, n=6 Interviews)</a:t>
            </a:r>
          </a:p>
          <a:p>
            <a:pPr>
              <a:defRPr sz="1200" b="1">
                <a:solidFill>
                  <a:srgbClr val="282C3F"/>
                </a:solidFill>
              </a:defRPr>
            </a:pPr>
            <a:r>
              <a:t>• 89.8% Sizing Uncertainty</a:t>
            </a:r>
          </a:p>
          <a:p>
            <a:pPr>
              <a:defRPr sz="1050">
                <a:solidFill>
                  <a:srgbClr val="535766"/>
                </a:solidFill>
              </a:defRPr>
            </a:pPr>
            <a:r>
              <a:t>  25 out of 30 respondents stated they hesitate to checkout because brand size charts are inconsistent.</a:t>
            </a:r>
          </a:p>
          <a:p>
            <a:pPr>
              <a:defRPr sz="1200" b="1">
                <a:solidFill>
                  <a:srgbClr val="282C3F"/>
                </a:solidFill>
              </a:defRPr>
            </a:pPr>
            <a:r>
              <a:t>• 7.2% Wishlist Disorganization</a:t>
            </a:r>
          </a:p>
          <a:p>
            <a:pPr>
              <a:defRPr sz="1050">
                <a:solidFill>
                  <a:srgbClr val="535766"/>
                </a:solidFill>
              </a:defRPr>
            </a:pPr>
            <a:r>
              <a:t>  22 out of 30 reported their wishlist is an unorganized dump of 50+ items where saved dresses get lost.</a:t>
            </a:r>
          </a:p>
          <a:p>
            <a:pPr>
              <a:defRPr sz="1200" b="1">
                <a:solidFill>
                  <a:srgbClr val="282C3F"/>
                </a:solidFill>
              </a:defRPr>
            </a:pPr>
            <a:r>
              <a:t>• 69% Demand Fit Control</a:t>
            </a:r>
          </a:p>
          <a:p>
            <a:pPr>
              <a:defRPr sz="1050">
                <a:solidFill>
                  <a:srgbClr val="535766"/>
                </a:solidFill>
              </a:defRPr>
            </a:pPr>
            <a:r>
              <a:t>  Users want verified real-buyer try-on photos filtered by buyer height &amp; weight.</a:t>
            </a:r>
          </a:p>
        </p:txBody>
      </p:sp>
      <p:sp>
        <p:nvSpPr>
          <p:cNvPr id="8" name="Rounded Rectangle 7"/>
          <p:cNvSpPr/>
          <p:nvPr/>
        </p:nvSpPr>
        <p:spPr>
          <a:xfrm>
            <a:off x="6126480" y="1234440"/>
            <a:ext cx="5486400"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353312"/>
            <a:ext cx="5212080" cy="4937760"/>
          </a:xfrm>
          <a:prstGeom prst="rect">
            <a:avLst/>
          </a:prstGeom>
          <a:noFill/>
        </p:spPr>
        <p:txBody>
          <a:bodyPr wrap="square">
            <a:spAutoFit/>
          </a:bodyPr>
          <a:lstStyle/>
          <a:p>
            <a:pPr>
              <a:defRPr sz="1400" b="1">
                <a:solidFill>
                  <a:srgbClr val="FF3F6C"/>
                </a:solidFill>
              </a:defRPr>
            </a:pPr>
            <a:r>
              <a:t>TARGET PERSONA: Ananya M. (24, Bangalore)</a:t>
            </a:r>
          </a:p>
          <a:p>
            <a:pPr>
              <a:defRPr sz="1100" b="1">
                <a:solidFill>
                  <a:srgbClr val="D97706"/>
                </a:solidFill>
              </a:defRPr>
            </a:pPr>
            <a:r>
              <a:t>College Student &amp; Frequent Daily Fashion Shopper</a:t>
            </a:r>
            <a:br/>
          </a:p>
          <a:p>
            <a:pPr>
              <a:defRPr sz="1150" b="1">
                <a:solidFill>
                  <a:srgbClr val="282C3F"/>
                </a:solidFill>
              </a:defRPr>
            </a:pPr>
            <a:r>
              <a:t>• Goals:</a:t>
            </a:r>
          </a:p>
          <a:p>
            <a:pPr>
              <a:defRPr sz="1050" i="0">
                <a:solidFill>
                  <a:srgbClr val="535766"/>
                </a:solidFill>
              </a:defRPr>
            </a:pPr>
            <a:r>
              <a:t>  Discover trendy daily college &amp; weekend outfits within ₹500–₹1,500 budget.</a:t>
            </a:r>
          </a:p>
          <a:p>
            <a:pPr>
              <a:defRPr sz="1150" b="1">
                <a:solidFill>
                  <a:srgbClr val="282C3F"/>
                </a:solidFill>
              </a:defRPr>
            </a:pPr>
            <a:r>
              <a:t>• Needs:</a:t>
            </a:r>
          </a:p>
          <a:p>
            <a:pPr>
              <a:defRPr sz="1050" i="0">
                <a:solidFill>
                  <a:srgbClr val="535766"/>
                </a:solidFill>
              </a:defRPr>
            </a:pPr>
            <a:r>
              <a:t>  Personalized recommendations with real-buyer try-on photos matching her 5'4" height and 52kg weight.</a:t>
            </a:r>
          </a:p>
          <a:p>
            <a:pPr>
              <a:defRPr sz="1150" b="1">
                <a:solidFill>
                  <a:srgbClr val="282C3F"/>
                </a:solidFill>
              </a:defRPr>
            </a:pPr>
            <a:r>
              <a:t>• Pain Points:</a:t>
            </a:r>
          </a:p>
          <a:p>
            <a:pPr>
              <a:defRPr sz="1050" i="0">
                <a:solidFill>
                  <a:srgbClr val="535766"/>
                </a:solidFill>
              </a:defRPr>
            </a:pPr>
            <a:r>
              <a:t>  Cannot judge fabric drape from 5'10" model studio photos; fears getting stuck in return/exchange loops.</a:t>
            </a:r>
          </a:p>
          <a:p>
            <a:pPr>
              <a:defRPr sz="1150" b="1">
                <a:solidFill>
                  <a:srgbClr val="282C3F"/>
                </a:solidFill>
              </a:defRPr>
            </a:pPr>
            <a:r>
              <a:t>• Direct Quote:</a:t>
            </a:r>
          </a:p>
          <a:p>
            <a:pPr>
              <a:defRPr sz="1050" i="1">
                <a:solidFill>
                  <a:srgbClr val="535766"/>
                </a:solidFill>
              </a:defRPr>
            </a:pPr>
            <a:r>
              <a:t>  "I have 35 items saved. I really want to buy the kurti, but every brand's Size M is different. Without seeing it on a real person, I leave it saved for weeks."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05 | TARGET SEGMENT &amp; PROBLEM CANVAS</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Focusing on 'High-Intent Accumulators': 10–30 Saved Items Picked by Size Yield 4.2x LTV</a:t>
            </a:r>
          </a:p>
        </p:txBody>
      </p:sp>
      <p:sp>
        <p:nvSpPr>
          <p:cNvPr id="6" name="Rounded Rectangle 5"/>
          <p:cNvSpPr/>
          <p:nvPr/>
        </p:nvSpPr>
        <p:spPr>
          <a:xfrm>
            <a:off x="548640" y="1234440"/>
            <a:ext cx="5394960" cy="24688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25880"/>
            <a:ext cx="5120640" cy="2194560"/>
          </a:xfrm>
          <a:prstGeom prst="rect">
            <a:avLst/>
          </a:prstGeom>
          <a:noFill/>
        </p:spPr>
        <p:txBody>
          <a:bodyPr wrap="square">
            <a:spAutoFit/>
          </a:bodyPr>
          <a:lstStyle/>
          <a:p>
            <a:pPr>
              <a:defRPr sz="1300" b="1">
                <a:solidFill>
                  <a:srgbClr val="FF3F6C"/>
                </a:solidFill>
              </a:defRPr>
            </a:pPr>
            <a:r>
              <a:t>TARGET SEGMENT: High-Intent Accumulators</a:t>
            </a:r>
          </a:p>
          <a:p>
            <a:pPr>
              <a:defRPr sz="1100">
                <a:solidFill>
                  <a:srgbClr val="535766"/>
                </a:solidFill>
              </a:defRPr>
            </a:pPr>
            <a:r>
              <a:t>Shoppers with 10–30 saved items who have already pre-selected a specific size ('S' or 'M'). They revisit their wishlist 2–3 times weekly and possess high purchasing power but conservative fit risk tolerance.</a:t>
            </a:r>
          </a:p>
        </p:txBody>
      </p:sp>
      <p:sp>
        <p:nvSpPr>
          <p:cNvPr id="8" name="Rounded Rectangle 7"/>
          <p:cNvSpPr/>
          <p:nvPr/>
        </p:nvSpPr>
        <p:spPr>
          <a:xfrm>
            <a:off x="6126480" y="1234440"/>
            <a:ext cx="5486400" cy="24688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325880"/>
            <a:ext cx="5212080" cy="2194560"/>
          </a:xfrm>
          <a:prstGeom prst="rect">
            <a:avLst/>
          </a:prstGeom>
          <a:noFill/>
        </p:spPr>
        <p:txBody>
          <a:bodyPr wrap="square">
            <a:spAutoFit/>
          </a:bodyPr>
          <a:lstStyle/>
          <a:p>
            <a:pPr>
              <a:defRPr sz="1300" b="1">
                <a:solidFill>
                  <a:srgbClr val="03A685"/>
                </a:solidFill>
              </a:defRPr>
            </a:pPr>
            <a:r>
              <a:t>WHY THIS SEGMENT? (Highest LTV Potential)</a:t>
            </a:r>
          </a:p>
          <a:p>
            <a:pPr>
              <a:defRPr sz="1100">
                <a:solidFill>
                  <a:srgbClr val="535766"/>
                </a:solidFill>
              </a:defRPr>
            </a:pPr>
            <a:r>
              <a:t>• Strongest Intent Signal: Size already chosen.</a:t>
            </a:r>
            <a:br/>
            <a:r>
              <a:t>• Highest Conversion Potential: 4.2x higher than casual moodboarders.</a:t>
            </a:r>
            <a:br/>
            <a:r>
              <a:t>• Solvable Friction: Providing social proof try-ons unlocks immediate checkout.</a:t>
            </a:r>
          </a:p>
        </p:txBody>
      </p:sp>
      <p:sp>
        <p:nvSpPr>
          <p:cNvPr id="10" name="Rounded Rectangle 9"/>
          <p:cNvSpPr/>
          <p:nvPr/>
        </p:nvSpPr>
        <p:spPr>
          <a:xfrm>
            <a:off x="548640" y="3840480"/>
            <a:ext cx="11094415" cy="260604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931920"/>
            <a:ext cx="10728655" cy="2423160"/>
          </a:xfrm>
          <a:prstGeom prst="rect">
            <a:avLst/>
          </a:prstGeom>
          <a:noFill/>
        </p:spPr>
        <p:txBody>
          <a:bodyPr wrap="square">
            <a:spAutoFit/>
          </a:bodyPr>
          <a:lstStyle/>
          <a:p>
            <a:pPr>
              <a:defRPr sz="1400" b="1">
                <a:solidFill>
                  <a:srgbClr val="FF3F6C"/>
                </a:solidFill>
              </a:defRPr>
            </a:pPr>
            <a:r>
              <a:t>PROBLEM FRAMING CANVAS</a:t>
            </a:r>
          </a:p>
          <a:p>
            <a:pPr>
              <a:defRPr sz="1100">
                <a:solidFill>
                  <a:srgbClr val="282C3F"/>
                </a:solidFill>
              </a:defRPr>
            </a:pPr>
            <a:r>
              <a:t>• User &amp; Context: High-Intent fashion shoppers revisiting their saved wishlist items on Myntra mobile app.</a:t>
            </a:r>
          </a:p>
          <a:p>
            <a:pPr>
              <a:defRPr sz="1100">
                <a:solidFill>
                  <a:srgbClr val="282C3F"/>
                </a:solidFill>
              </a:defRPr>
            </a:pPr>
            <a:r>
              <a:t>• Trigger: Item added during commute or sale browsing; user reopens app 3–7 days later to buy.</a:t>
            </a:r>
          </a:p>
          <a:p>
            <a:pPr>
              <a:defRPr sz="1100">
                <a:solidFill>
                  <a:srgbClr val="282C3F"/>
                </a:solidFill>
              </a:defRPr>
            </a:pPr>
            <a:r>
              <a:t>• Problem: Shopper stops short of checkout due to fit uncertainty and decision fatigue from list clutter.</a:t>
            </a:r>
          </a:p>
          <a:p>
            <a:pPr>
              <a:defRPr sz="1100">
                <a:solidFill>
                  <a:srgbClr val="282C3F"/>
                </a:solidFill>
              </a:defRPr>
            </a:pPr>
            <a:r>
              <a:t>• Root Cause: Studio model photos lack real-body context; zero occasion folder organization; price paranoia.</a:t>
            </a:r>
          </a:p>
          <a:p>
            <a:pPr>
              <a:defRPr sz="1100">
                <a:solidFill>
                  <a:srgbClr val="282C3F"/>
                </a:solidFill>
              </a:defRPr>
            </a:pPr>
            <a:r>
              <a:t>• Business Impact: 82% of high-intent saved items remain unmonetized; lower purchase frequency &amp; platform LTV.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06 | SOLUTION PRIORITIZATION</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RICE Matrix Ranks FitConfidence Overlay (15.0 Score) as the #1 High-Impact Lever</a:t>
            </a:r>
          </a:p>
        </p:txBody>
      </p:sp>
      <p:sp>
        <p:nvSpPr>
          <p:cNvPr id="6" name="Rounded Rectangle 5"/>
          <p:cNvSpPr/>
          <p:nvPr/>
        </p:nvSpPr>
        <p:spPr>
          <a:xfrm>
            <a:off x="548640" y="1234440"/>
            <a:ext cx="11094415"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53312"/>
            <a:ext cx="10728655" cy="4937760"/>
          </a:xfrm>
          <a:prstGeom prst="rect">
            <a:avLst/>
          </a:prstGeom>
          <a:noFill/>
        </p:spPr>
        <p:txBody>
          <a:bodyPr wrap="square">
            <a:spAutoFit/>
          </a:bodyPr>
          <a:lstStyle/>
          <a:p>
            <a:pPr>
              <a:defRPr sz="1400" b="1">
                <a:solidFill>
                  <a:srgbClr val="FF3F6C"/>
                </a:solidFill>
              </a:defRPr>
            </a:pPr>
            <a:r>
              <a:t>RICE PRIORITIZATION MATRIX (Zero-Discount Scope)</a:t>
            </a:r>
          </a:p>
          <a:p>
            <a:pPr>
              <a:defRPr sz="1100">
                <a:solidFill>
                  <a:srgbClr val="94969F"/>
                </a:solidFill>
              </a:defRPr>
            </a:pPr>
            <a:r>
              <a:t>Formula: RICE Score = (Reach × Impact × Confidence) / Effort</a:t>
            </a:r>
            <a:br/>
          </a:p>
          <a:p>
            <a:pPr>
              <a:defRPr sz="1300" b="1">
                <a:solidFill>
                  <a:srgbClr val="FF3F6C"/>
                </a:solidFill>
              </a:defRPr>
            </a:pPr>
            <a:r>
              <a:t>✔ S1: FitConfidence Overlay &amp; Real Buyer Photos   [RICE SCORE: 15.0]</a:t>
            </a:r>
          </a:p>
          <a:p>
            <a:pPr>
              <a:defRPr sz="1100">
                <a:solidFill>
                  <a:srgbClr val="535766"/>
                </a:solidFill>
              </a:defRPr>
            </a:pPr>
            <a:r>
              <a:t>   Focus: Addresses 89.8% Fit Anxiety   |   Parameters: R: 9 | I: 10 | C: 9 | E: 6</a:t>
            </a:r>
          </a:p>
          <a:p>
            <a:pPr>
              <a:defRPr sz="1300" b="1">
                <a:solidFill>
                  <a:srgbClr val="03A685"/>
                </a:solidFill>
              </a:defRPr>
            </a:pPr>
            <a:r>
              <a:t>✔ S2: Smart Occasion Folders (Work/College/Festive)   [RICE SCORE: 11.5]</a:t>
            </a:r>
          </a:p>
          <a:p>
            <a:pPr>
              <a:defRPr sz="1100">
                <a:solidFill>
                  <a:srgbClr val="535766"/>
                </a:solidFill>
              </a:defRPr>
            </a:pPr>
            <a:r>
              <a:t>   Focus: Addresses 7.2% Wishlist Clutter   |   Parameters: R: 8 | I: 8 | C: 9 | E: 5</a:t>
            </a:r>
          </a:p>
          <a:p>
            <a:pPr>
              <a:defRPr sz="1300" b="1">
                <a:solidFill>
                  <a:srgbClr val="03A685"/>
                </a:solidFill>
              </a:defRPr>
            </a:pPr>
            <a:r>
              <a:t>✔ S3: Smart Value Check (Price When Added Tracking)   [RICE SCORE: 12.6]</a:t>
            </a:r>
          </a:p>
          <a:p>
            <a:pPr>
              <a:defRPr sz="1100">
                <a:solidFill>
                  <a:srgbClr val="535766"/>
                </a:solidFill>
              </a:defRPr>
            </a:pPr>
            <a:r>
              <a:t>   Focus: Addresses Price Floor Paranoia   |   Parameters: R: 9 | I: 7 | C: 8 | E: 4</a:t>
            </a:r>
          </a:p>
          <a:p>
            <a:pPr>
              <a:defRPr sz="1300" b="1">
                <a:solidFill>
                  <a:srgbClr val="03A685"/>
                </a:solidFill>
              </a:defRPr>
            </a:pPr>
            <a:r>
              <a:t>✔ S4: Free Delivery Threshold Bundler   [RICE SCORE: 8.4]</a:t>
            </a:r>
          </a:p>
          <a:p>
            <a:pPr>
              <a:defRPr sz="1100">
                <a:solidFill>
                  <a:srgbClr val="535766"/>
                </a:solidFill>
              </a:defRPr>
            </a:pPr>
            <a:r>
              <a:t>   Focus: Addresses 3.6% Shipping Fee Friction   |   Parameters: R: 7 | I: 6 | C: 8 | E: 4</a:t>
            </a:r>
          </a:p>
          <a:p>
            <a:br/>
            <a:pPr>
              <a:defRPr sz="1200" b="1">
                <a:solidFill>
                  <a:srgbClr val="D97706"/>
                </a:solidFill>
              </a:defRPr>
            </a:pPr>
            <a:r>
              <a:t>CORE SOLUTION PRINCIPLE:</a:t>
            </a:r>
          </a:p>
          <a:p>
            <a:pPr>
              <a:defRPr sz="1100">
                <a:solidFill>
                  <a:srgbClr val="535766"/>
                </a:solidFill>
              </a:defRPr>
            </a:pPr>
            <a:r>
              <a:t>The solution suite must balance automation with light user input—surfacing pre-purchase fit confidence and occasion curation without relying on price cuts or promotional discounts.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07 | PRODUCT SOLUTION SUITE</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Announcing 'Myntra Wishlist Conversion Suite': 5 Zero-Discount Product Levers</a:t>
            </a:r>
          </a:p>
        </p:txBody>
      </p:sp>
      <p:sp>
        <p:nvSpPr>
          <p:cNvPr id="6" name="Rounded Rectangle 5"/>
          <p:cNvSpPr/>
          <p:nvPr/>
        </p:nvSpPr>
        <p:spPr>
          <a:xfrm>
            <a:off x="548640" y="1234440"/>
            <a:ext cx="3593592"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53312"/>
            <a:ext cx="3319272" cy="4937760"/>
          </a:xfrm>
          <a:prstGeom prst="rect">
            <a:avLst/>
          </a:prstGeom>
          <a:noFill/>
        </p:spPr>
        <p:txBody>
          <a:bodyPr wrap="square">
            <a:spAutoFit/>
          </a:bodyPr>
          <a:lstStyle/>
          <a:p>
            <a:pPr>
              <a:defRPr sz="1300" b="1">
                <a:solidFill>
                  <a:srgbClr val="FF3F6C"/>
                </a:solidFill>
              </a:defRPr>
            </a:pPr>
            <a:r>
              <a:t>✨ 1. FitConfidence &amp; Buyer Photos</a:t>
            </a:r>
          </a:p>
          <a:p>
            <a:pPr>
              <a:defRPr sz="1100" b="1">
                <a:solidFill>
                  <a:srgbClr val="D97706"/>
                </a:solidFill>
              </a:defRPr>
            </a:pPr>
            <a:r>
              <a:t>Social Proof Overlay</a:t>
            </a:r>
          </a:p>
          <a:p>
            <a:br/>
            <a:pPr>
              <a:defRPr sz="1100">
                <a:solidFill>
                  <a:srgbClr val="535766"/>
                </a:solidFill>
              </a:defRPr>
            </a:pPr>
            <a:r>
              <a:t>Displays live true-to-size ratings (e.g. '88% True to Size') and 1-tap unedited buyer photos filtered by height (5'4") &amp; weight (52kg).</a:t>
            </a:r>
            <a:br/>
          </a:p>
          <a:p>
            <a:pPr>
              <a:defRPr sz="1100" b="1">
                <a:solidFill>
                  <a:srgbClr val="03A685"/>
                </a:solidFill>
              </a:defRPr>
            </a:pPr>
            <a:r>
              <a:t>✔ Solves 89.8% Fit Anxiety</a:t>
            </a:r>
          </a:p>
        </p:txBody>
      </p:sp>
      <p:sp>
        <p:nvSpPr>
          <p:cNvPr id="8" name="Rounded Rectangle 7"/>
          <p:cNvSpPr/>
          <p:nvPr/>
        </p:nvSpPr>
        <p:spPr>
          <a:xfrm>
            <a:off x="4297679" y="1234440"/>
            <a:ext cx="3593592"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353312"/>
            <a:ext cx="3319272" cy="4937760"/>
          </a:xfrm>
          <a:prstGeom prst="rect">
            <a:avLst/>
          </a:prstGeom>
          <a:noFill/>
        </p:spPr>
        <p:txBody>
          <a:bodyPr wrap="square">
            <a:spAutoFit/>
          </a:bodyPr>
          <a:lstStyle/>
          <a:p>
            <a:pPr>
              <a:defRPr sz="1300" b="1">
                <a:solidFill>
                  <a:srgbClr val="282C3F"/>
                </a:solidFill>
              </a:defRPr>
            </a:pPr>
            <a:r>
              <a:t>📁 2. Smart Occasion Folders</a:t>
            </a:r>
          </a:p>
          <a:p>
            <a:pPr>
              <a:defRPr sz="1100" b="1">
                <a:solidFill>
                  <a:srgbClr val="D97706"/>
                </a:solidFill>
              </a:defRPr>
            </a:pPr>
            <a:r>
              <a:t>Anti-Clutter Organization</a:t>
            </a:r>
          </a:p>
          <a:p>
            <a:br/>
            <a:pPr>
              <a:defRPr sz="1100">
                <a:solidFill>
                  <a:srgbClr val="535766"/>
                </a:solidFill>
              </a:defRPr>
            </a:pPr>
            <a:r>
              <a:t>Auto-groups 50+ saved items into 'Workwear', 'College', 'Festive', and 'Gym' tabs to eliminate list scroll fatigue.</a:t>
            </a:r>
            <a:br/>
          </a:p>
        </p:txBody>
      </p:sp>
      <p:sp>
        <p:nvSpPr>
          <p:cNvPr id="10" name="Rounded Rectangle 9"/>
          <p:cNvSpPr/>
          <p:nvPr/>
        </p:nvSpPr>
        <p:spPr>
          <a:xfrm>
            <a:off x="8046719" y="1234440"/>
            <a:ext cx="3593592"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353312"/>
            <a:ext cx="3319272" cy="4937760"/>
          </a:xfrm>
          <a:prstGeom prst="rect">
            <a:avLst/>
          </a:prstGeom>
          <a:noFill/>
        </p:spPr>
        <p:txBody>
          <a:bodyPr wrap="square">
            <a:spAutoFit/>
          </a:bodyPr>
          <a:lstStyle/>
          <a:p>
            <a:pPr>
              <a:defRPr sz="1300" b="1">
                <a:solidFill>
                  <a:srgbClr val="282C3F"/>
                </a:solidFill>
              </a:defRPr>
            </a:pPr>
            <a:r>
              <a:t>💡 3. Smart Value Check</a:t>
            </a:r>
          </a:p>
          <a:p>
            <a:pPr>
              <a:defRPr sz="1100" b="1">
                <a:solidFill>
                  <a:srgbClr val="D97706"/>
                </a:solidFill>
              </a:defRPr>
            </a:pPr>
            <a:r>
              <a:t>Price Floor &amp; Saved Price</a:t>
            </a:r>
          </a:p>
          <a:p>
            <a:br/>
            <a:pPr>
              <a:defRPr sz="1100">
                <a:solidFill>
                  <a:srgbClr val="535766"/>
                </a:solidFill>
              </a:defRPr>
            </a:pPr>
            <a:r>
              <a:t>Shows exact price when item was saved vs current price, proving current price is a real low (zero fake sale stress).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08 | WIREFRAMES &amp; DECODING MVP</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Decoding the Product MVP: 4 Mobile Wireframe Screens &amp; 4 Core AI Transformation Pillars</a:t>
            </a:r>
          </a:p>
        </p:txBody>
      </p:sp>
      <p:sp>
        <p:nvSpPr>
          <p:cNvPr id="6" name="Rounded Rectangle 5"/>
          <p:cNvSpPr/>
          <p:nvPr/>
        </p:nvSpPr>
        <p:spPr>
          <a:xfrm>
            <a:off x="548640" y="1234440"/>
            <a:ext cx="2606040" cy="24688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2423160" cy="2286000"/>
          </a:xfrm>
          <a:prstGeom prst="rect">
            <a:avLst/>
          </a:prstGeom>
          <a:noFill/>
        </p:spPr>
        <p:txBody>
          <a:bodyPr wrap="square">
            <a:spAutoFit/>
          </a:bodyPr>
          <a:lstStyle/>
          <a:p>
            <a:pPr>
              <a:defRPr sz="1100" b="1">
                <a:solidFill>
                  <a:srgbClr val="FF3F6C"/>
                </a:solidFill>
              </a:defRPr>
            </a:pPr>
            <a:r>
              <a:t>Screen 1: Login Page</a:t>
            </a:r>
          </a:p>
          <a:p>
            <a:pPr>
              <a:defRPr sz="950" b="1">
                <a:solidFill>
                  <a:srgbClr val="03A685"/>
                </a:solidFill>
              </a:defRPr>
            </a:pPr>
            <a:r>
              <a:t>[Introducing Login Page]</a:t>
            </a:r>
          </a:p>
          <a:p>
            <a:br/>
            <a:pPr>
              <a:defRPr sz="950">
                <a:solidFill>
                  <a:srgbClr val="535766"/>
                </a:solidFill>
              </a:defRPr>
            </a:pPr>
            <a:r>
              <a:t>Profile chooser (Meera / Rohan) pre-loaded with height/weight attributes to eliminate login friction in testing.</a:t>
            </a:r>
          </a:p>
        </p:txBody>
      </p:sp>
      <p:sp>
        <p:nvSpPr>
          <p:cNvPr id="8" name="Rounded Rectangle 7"/>
          <p:cNvSpPr/>
          <p:nvPr/>
        </p:nvSpPr>
        <p:spPr>
          <a:xfrm>
            <a:off x="3291840" y="1234440"/>
            <a:ext cx="2606040" cy="24688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325880"/>
            <a:ext cx="2423160" cy="2286000"/>
          </a:xfrm>
          <a:prstGeom prst="rect">
            <a:avLst/>
          </a:prstGeom>
          <a:noFill/>
        </p:spPr>
        <p:txBody>
          <a:bodyPr wrap="square">
            <a:spAutoFit/>
          </a:bodyPr>
          <a:lstStyle/>
          <a:p>
            <a:pPr>
              <a:defRPr sz="1100" b="1">
                <a:solidFill>
                  <a:srgbClr val="FF3F6C"/>
                </a:solidFill>
              </a:defRPr>
            </a:pPr>
            <a:r>
              <a:t>Screen 2: Home Page</a:t>
            </a:r>
          </a:p>
          <a:p>
            <a:pPr>
              <a:defRPr sz="950" b="1">
                <a:solidFill>
                  <a:srgbClr val="03A685"/>
                </a:solidFill>
              </a:defRPr>
            </a:pPr>
            <a:r>
              <a:t>[Home &amp; Wishlist Feed]</a:t>
            </a:r>
          </a:p>
          <a:p>
            <a:br/>
            <a:pPr>
              <a:defRPr sz="950">
                <a:solidFill>
                  <a:srgbClr val="535766"/>
                </a:solidFill>
              </a:defRPr>
            </a:pPr>
            <a:r>
              <a:t>Shows all categories, occasion pills ('College', 'Festive') and AI-scored item recommendations.</a:t>
            </a:r>
          </a:p>
        </p:txBody>
      </p:sp>
      <p:sp>
        <p:nvSpPr>
          <p:cNvPr id="10" name="Rounded Rectangle 9"/>
          <p:cNvSpPr/>
          <p:nvPr/>
        </p:nvSpPr>
        <p:spPr>
          <a:xfrm>
            <a:off x="548640" y="3840480"/>
            <a:ext cx="2606040" cy="24688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31920"/>
            <a:ext cx="2423160" cy="2286000"/>
          </a:xfrm>
          <a:prstGeom prst="rect">
            <a:avLst/>
          </a:prstGeom>
          <a:noFill/>
        </p:spPr>
        <p:txBody>
          <a:bodyPr wrap="square">
            <a:spAutoFit/>
          </a:bodyPr>
          <a:lstStyle/>
          <a:p>
            <a:pPr>
              <a:defRPr sz="1100" b="1">
                <a:solidFill>
                  <a:srgbClr val="FF3F6C"/>
                </a:solidFill>
              </a:defRPr>
            </a:pPr>
            <a:r>
              <a:t>Screen 3: Category Suggestion Card</a:t>
            </a:r>
          </a:p>
          <a:p>
            <a:pPr>
              <a:defRPr sz="950" b="1">
                <a:solidFill>
                  <a:srgbClr val="03A685"/>
                </a:solidFill>
              </a:defRPr>
            </a:pPr>
            <a:r>
              <a:t>[FitConfidence Overlay]</a:t>
            </a:r>
          </a:p>
          <a:p>
            <a:br/>
            <a:pPr>
              <a:defRPr sz="950">
                <a:solidFill>
                  <a:srgbClr val="535766"/>
                </a:solidFill>
              </a:defRPr>
            </a:pPr>
            <a:r>
              <a:t>Displays Basket Fit %, plain-language reason ('Why this?'), and real products in one card without extra navigation.</a:t>
            </a:r>
          </a:p>
        </p:txBody>
      </p:sp>
      <p:sp>
        <p:nvSpPr>
          <p:cNvPr id="12" name="Rounded Rectangle 11"/>
          <p:cNvSpPr/>
          <p:nvPr/>
        </p:nvSpPr>
        <p:spPr>
          <a:xfrm>
            <a:off x="3291840" y="3840480"/>
            <a:ext cx="2606040" cy="24688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3931920"/>
            <a:ext cx="2423160" cy="2286000"/>
          </a:xfrm>
          <a:prstGeom prst="rect">
            <a:avLst/>
          </a:prstGeom>
          <a:noFill/>
        </p:spPr>
        <p:txBody>
          <a:bodyPr wrap="square">
            <a:spAutoFit/>
          </a:bodyPr>
          <a:lstStyle/>
          <a:p>
            <a:pPr>
              <a:defRPr sz="1100" b="1">
                <a:solidFill>
                  <a:srgbClr val="FF3F6C"/>
                </a:solidFill>
              </a:defRPr>
            </a:pPr>
            <a:r>
              <a:t>Screen 4: Instant Cart &amp; Rescoring</a:t>
            </a:r>
          </a:p>
          <a:p>
            <a:pPr>
              <a:defRPr sz="950" b="1">
                <a:solidFill>
                  <a:srgbClr val="03A685"/>
                </a:solidFill>
              </a:defRPr>
            </a:pPr>
            <a:r>
              <a:t>[Tapping Add Updates Cart]</a:t>
            </a:r>
          </a:p>
          <a:p>
            <a:br/>
            <a:pPr>
              <a:defRPr sz="950">
                <a:solidFill>
                  <a:srgbClr val="535766"/>
                </a:solidFill>
              </a:defRPr>
            </a:pPr>
            <a:r>
              <a:t>Updates cart instantly and triggers background rescoring; discovery &amp; purchase close in one tap.</a:t>
            </a:r>
          </a:p>
        </p:txBody>
      </p:sp>
      <p:sp>
        <p:nvSpPr>
          <p:cNvPr id="14" name="Rounded Rectangle 13"/>
          <p:cNvSpPr/>
          <p:nvPr/>
        </p:nvSpPr>
        <p:spPr>
          <a:xfrm>
            <a:off x="6217920" y="1234440"/>
            <a:ext cx="5422392" cy="123444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307592"/>
            <a:ext cx="5148072" cy="1078992"/>
          </a:xfrm>
          <a:prstGeom prst="rect">
            <a:avLst/>
          </a:prstGeom>
          <a:noFill/>
        </p:spPr>
        <p:txBody>
          <a:bodyPr wrap="square">
            <a:spAutoFit/>
          </a:bodyPr>
          <a:lstStyle/>
          <a:p>
            <a:pPr>
              <a:defRPr sz="1150" b="1">
                <a:solidFill>
                  <a:srgbClr val="282C3F"/>
                </a:solidFill>
              </a:defRPr>
            </a:pPr>
            <a:r>
              <a:t>Why Traditional Systems Fail</a:t>
            </a:r>
          </a:p>
          <a:p>
            <a:pPr>
              <a:defRPr sz="950">
                <a:solidFill>
                  <a:srgbClr val="535766"/>
                </a:solidFill>
              </a:defRPr>
            </a:pPr>
            <a:r>
              <a:t>Solves the 'static rule' trap &amp; legacy banners—most systems over-index on reorder history or ignore cart/wishlist context completely.</a:t>
            </a:r>
          </a:p>
        </p:txBody>
      </p:sp>
      <p:sp>
        <p:nvSpPr>
          <p:cNvPr id="16" name="Rounded Rectangle 15"/>
          <p:cNvSpPr/>
          <p:nvPr/>
        </p:nvSpPr>
        <p:spPr>
          <a:xfrm>
            <a:off x="6217920" y="2532888"/>
            <a:ext cx="5422392" cy="123444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606040"/>
            <a:ext cx="5148072" cy="1078992"/>
          </a:xfrm>
          <a:prstGeom prst="rect">
            <a:avLst/>
          </a:prstGeom>
          <a:noFill/>
        </p:spPr>
        <p:txBody>
          <a:bodyPr wrap="square">
            <a:spAutoFit/>
          </a:bodyPr>
          <a:lstStyle/>
          <a:p>
            <a:pPr>
              <a:defRPr sz="1150" b="1">
                <a:solidFill>
                  <a:srgbClr val="FF3F6C"/>
                </a:solidFill>
              </a:defRPr>
            </a:pPr>
            <a:r>
              <a:t>What AI Unlocks</a:t>
            </a:r>
          </a:p>
          <a:p>
            <a:pPr>
              <a:defRPr sz="950">
                <a:solidFill>
                  <a:srgbClr val="535766"/>
                </a:solidFill>
              </a:defRPr>
            </a:pPr>
            <a:r>
              <a:t>AI treats live basket as real-time signal, reasoning over saved contents on every change instead of a static co-occurrence table.</a:t>
            </a:r>
          </a:p>
        </p:txBody>
      </p:sp>
      <p:sp>
        <p:nvSpPr>
          <p:cNvPr id="18" name="Rounded Rectangle 17"/>
          <p:cNvSpPr/>
          <p:nvPr/>
        </p:nvSpPr>
        <p:spPr>
          <a:xfrm>
            <a:off x="6217920" y="3831335"/>
            <a:ext cx="5422392" cy="123444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904487"/>
            <a:ext cx="5148072" cy="1078992"/>
          </a:xfrm>
          <a:prstGeom prst="rect">
            <a:avLst/>
          </a:prstGeom>
          <a:noFill/>
        </p:spPr>
        <p:txBody>
          <a:bodyPr wrap="square">
            <a:spAutoFit/>
          </a:bodyPr>
          <a:lstStyle/>
          <a:p>
            <a:pPr>
              <a:defRPr sz="1150" b="1">
                <a:solidFill>
                  <a:srgbClr val="FF3F6C"/>
                </a:solidFill>
              </a:defRPr>
            </a:pPr>
            <a:r>
              <a:t>How It Transforms UX</a:t>
            </a:r>
          </a:p>
          <a:p>
            <a:pPr>
              <a:defRPr sz="950">
                <a:solidFill>
                  <a:srgbClr val="535766"/>
                </a:solidFill>
              </a:defRPr>
            </a:pPr>
            <a:r>
              <a:t>Shifts user from passive reorderer to active discoverer via threshold-gated explainable rails (e.g. 88% fit score on Kurtis).</a:t>
            </a:r>
          </a:p>
        </p:txBody>
      </p:sp>
      <p:sp>
        <p:nvSpPr>
          <p:cNvPr id="20" name="Rounded Rectangle 19"/>
          <p:cNvSpPr/>
          <p:nvPr/>
        </p:nvSpPr>
        <p:spPr>
          <a:xfrm>
            <a:off x="6217920" y="5129783"/>
            <a:ext cx="5422392" cy="123444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5202936"/>
            <a:ext cx="5148072" cy="1078992"/>
          </a:xfrm>
          <a:prstGeom prst="rect">
            <a:avLst/>
          </a:prstGeom>
          <a:noFill/>
        </p:spPr>
        <p:txBody>
          <a:bodyPr wrap="square">
            <a:spAutoFit/>
          </a:bodyPr>
          <a:lstStyle/>
          <a:p>
            <a:pPr>
              <a:defRPr sz="1150" b="1">
                <a:solidFill>
                  <a:srgbClr val="282C3F"/>
                </a:solidFill>
              </a:defRPr>
            </a:pPr>
            <a:r>
              <a:t>Why AI Is Uniquely Required</a:t>
            </a:r>
          </a:p>
          <a:p>
            <a:pPr>
              <a:defRPr sz="950">
                <a:solidFill>
                  <a:srgbClr val="535766"/>
                </a:solidFill>
              </a:defRPr>
            </a:pPr>
            <a:r>
              <a:t>Basket-affinity reasoning ensures relevance &amp; explanation stay personalized in real time, not recalculated from a stale snapshot.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09 | SUCCESS METRICS &amp; RISKS</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Tracking 30-Day Wishlist Conversion (+350 bps) Against Card-to-Bag CTR (+18%)</a:t>
            </a:r>
          </a:p>
        </p:txBody>
      </p:sp>
      <p:sp>
        <p:nvSpPr>
          <p:cNvPr id="6" name="Rounded Rectangle 5"/>
          <p:cNvSpPr/>
          <p:nvPr/>
        </p:nvSpPr>
        <p:spPr>
          <a:xfrm>
            <a:off x="548640" y="1234440"/>
            <a:ext cx="3593592"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53312"/>
            <a:ext cx="3319272" cy="4937760"/>
          </a:xfrm>
          <a:prstGeom prst="rect">
            <a:avLst/>
          </a:prstGeom>
          <a:noFill/>
        </p:spPr>
        <p:txBody>
          <a:bodyPr wrap="square">
            <a:spAutoFit/>
          </a:bodyPr>
          <a:lstStyle/>
          <a:p>
            <a:pPr>
              <a:defRPr sz="1300" b="1">
                <a:solidFill>
                  <a:srgbClr val="FF3F6C"/>
                </a:solidFill>
              </a:defRPr>
            </a:pPr>
            <a:r>
              <a:t>NORTH STAR METRIC</a:t>
            </a:r>
          </a:p>
          <a:p>
            <a:pPr>
              <a:defRPr sz="1100" b="1">
                <a:solidFill>
                  <a:srgbClr val="94969F"/>
                </a:solidFill>
              </a:defRPr>
            </a:pPr>
            <a:r>
              <a:t>Lagging Metric (30 Days)</a:t>
            </a:r>
          </a:p>
          <a:p>
            <a:br/>
            <a:pPr>
              <a:defRPr sz="1150" b="1">
                <a:solidFill>
                  <a:srgbClr val="282C3F"/>
                </a:solidFill>
              </a:defRPr>
            </a:pPr>
            <a:r>
              <a:t>• 30-Day Wishlist Conversion Rate</a:t>
            </a:r>
          </a:p>
          <a:p>
            <a:pPr>
              <a:defRPr sz="1050" b="1">
                <a:solidFill>
                  <a:srgbClr val="FF3F6C"/>
                </a:solidFill>
              </a:defRPr>
            </a:pPr>
            <a:r>
              <a:t>  [Target: +350 bps (12% → 15.5%)]</a:t>
            </a:r>
          </a:p>
          <a:p>
            <a:pPr>
              <a:defRPr sz="1000">
                <a:solidFill>
                  <a:srgbClr val="535766"/>
                </a:solidFill>
              </a:defRPr>
            </a:pPr>
            <a:r>
              <a:t>  Percentage of unique users purchasing at least one wishlisted item within 30 days.</a:t>
            </a:r>
          </a:p>
        </p:txBody>
      </p:sp>
      <p:sp>
        <p:nvSpPr>
          <p:cNvPr id="8" name="Rounded Rectangle 7"/>
          <p:cNvSpPr/>
          <p:nvPr/>
        </p:nvSpPr>
        <p:spPr>
          <a:xfrm>
            <a:off x="4297679" y="1234440"/>
            <a:ext cx="3593592"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353312"/>
            <a:ext cx="3319272" cy="4937760"/>
          </a:xfrm>
          <a:prstGeom prst="rect">
            <a:avLst/>
          </a:prstGeom>
          <a:noFill/>
        </p:spPr>
        <p:txBody>
          <a:bodyPr wrap="square">
            <a:spAutoFit/>
          </a:bodyPr>
          <a:lstStyle/>
          <a:p>
            <a:pPr>
              <a:defRPr sz="1300" b="1">
                <a:solidFill>
                  <a:srgbClr val="03A685"/>
                </a:solidFill>
              </a:defRPr>
            </a:pPr>
            <a:r>
              <a:t>L1 &amp; L2 METRICS</a:t>
            </a:r>
          </a:p>
          <a:p>
            <a:pPr>
              <a:defRPr sz="1100" b="1">
                <a:solidFill>
                  <a:srgbClr val="94969F"/>
                </a:solidFill>
              </a:defRPr>
            </a:pPr>
            <a:r>
              <a:t>Leading Indicators (0–14 Days)</a:t>
            </a:r>
          </a:p>
          <a:p>
            <a:br/>
            <a:pPr>
              <a:defRPr sz="1150" b="1">
                <a:solidFill>
                  <a:srgbClr val="282C3F"/>
                </a:solidFill>
              </a:defRPr>
            </a:pPr>
            <a:r>
              <a:t>• Wishlist Card-to-Bag CTR</a:t>
            </a:r>
          </a:p>
          <a:p>
            <a:pPr>
              <a:defRPr sz="1050" b="1">
                <a:solidFill>
                  <a:srgbClr val="03A685"/>
                </a:solidFill>
              </a:defRPr>
            </a:pPr>
            <a:r>
              <a:t>  [Target: +18% lift]</a:t>
            </a:r>
          </a:p>
          <a:p>
            <a:pPr>
              <a:defRPr sz="1000">
                <a:solidFill>
                  <a:srgbClr val="535766"/>
                </a:solidFill>
              </a:defRPr>
            </a:pPr>
            <a:r>
              <a:t>  Measures size selection into bag.</a:t>
            </a:r>
          </a:p>
          <a:p>
            <a:br/>
            <a:pPr>
              <a:defRPr sz="1150" b="1">
                <a:solidFill>
                  <a:srgbClr val="282C3F"/>
                </a:solidFill>
              </a:defRPr>
            </a:pPr>
            <a:r>
              <a:t>• Buyer Photo Modal Adoption</a:t>
            </a:r>
          </a:p>
          <a:p>
            <a:pPr>
              <a:defRPr sz="1050" b="1">
                <a:solidFill>
                  <a:srgbClr val="03A685"/>
                </a:solidFill>
              </a:defRPr>
            </a:pPr>
            <a:r>
              <a:t>  [Target: 35% usage]</a:t>
            </a:r>
          </a:p>
          <a:p>
            <a:pPr>
              <a:defRPr sz="1000">
                <a:solidFill>
                  <a:srgbClr val="535766"/>
                </a:solidFill>
              </a:defRPr>
            </a:pPr>
            <a:r>
              <a:t>  Tracks photo reel engagement.</a:t>
            </a:r>
          </a:p>
          <a:p>
            <a:br/>
            <a:pPr>
              <a:defRPr sz="1150" b="1">
                <a:solidFill>
                  <a:srgbClr val="282C3F"/>
                </a:solidFill>
              </a:defRPr>
            </a:pPr>
            <a:r>
              <a:t>• Occasion Folder Reopen Rate</a:t>
            </a:r>
          </a:p>
          <a:p>
            <a:pPr>
              <a:defRPr sz="1050" b="1">
                <a:solidFill>
                  <a:srgbClr val="03A685"/>
                </a:solidFill>
              </a:defRPr>
            </a:pPr>
            <a:r>
              <a:t>  [Target: +25% reopen]</a:t>
            </a:r>
          </a:p>
          <a:p>
            <a:pPr>
              <a:defRPr sz="1000">
                <a:solidFill>
                  <a:srgbClr val="535766"/>
                </a:solidFill>
              </a:defRPr>
            </a:pPr>
            <a:r>
              <a:t>  Measures anti-clutter impact.</a:t>
            </a:r>
          </a:p>
        </p:txBody>
      </p:sp>
      <p:sp>
        <p:nvSpPr>
          <p:cNvPr id="10" name="Rounded Rectangle 9"/>
          <p:cNvSpPr/>
          <p:nvPr/>
        </p:nvSpPr>
        <p:spPr>
          <a:xfrm>
            <a:off x="8046719" y="1234440"/>
            <a:ext cx="3593592"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353312"/>
            <a:ext cx="3319272" cy="4937760"/>
          </a:xfrm>
          <a:prstGeom prst="rect">
            <a:avLst/>
          </a:prstGeom>
          <a:noFill/>
        </p:spPr>
        <p:txBody>
          <a:bodyPr wrap="square">
            <a:spAutoFit/>
          </a:bodyPr>
          <a:lstStyle/>
          <a:p>
            <a:pPr>
              <a:defRPr sz="1300" b="1">
                <a:solidFill>
                  <a:srgbClr val="D97706"/>
                </a:solidFill>
              </a:defRPr>
            </a:pPr>
            <a:r>
              <a:t>RISKS &amp; GUARDRAILS</a:t>
            </a:r>
          </a:p>
          <a:p>
            <a:pPr>
              <a:defRPr sz="1100" b="1">
                <a:solidFill>
                  <a:srgbClr val="94969F"/>
                </a:solidFill>
              </a:defRPr>
            </a:pPr>
            <a:r>
              <a:t>Risk Controls &amp; Latency</a:t>
            </a:r>
          </a:p>
          <a:p>
            <a:br/>
            <a:pPr>
              <a:defRPr sz="1150" b="1">
                <a:solidFill>
                  <a:srgbClr val="282C3F"/>
                </a:solidFill>
              </a:defRPr>
            </a:pPr>
            <a:r>
              <a:t>• Return &amp; Exchange Rate</a:t>
            </a:r>
          </a:p>
          <a:p>
            <a:pPr>
              <a:defRPr sz="1050" b="1">
                <a:solidFill>
                  <a:srgbClr val="D97706"/>
                </a:solidFill>
              </a:defRPr>
            </a:pPr>
            <a:r>
              <a:t>  [Guardrail: Must NOT rise &gt;0.5%]</a:t>
            </a:r>
          </a:p>
          <a:p>
            <a:pPr>
              <a:defRPr sz="1000">
                <a:solidFill>
                  <a:srgbClr val="535766"/>
                </a:solidFill>
              </a:defRPr>
            </a:pPr>
            <a:r>
              <a:t>  Confirms sizing accuracy.</a:t>
            </a:r>
          </a:p>
          <a:p>
            <a:br/>
            <a:pPr>
              <a:defRPr sz="1150" b="1">
                <a:solidFill>
                  <a:srgbClr val="282C3F"/>
                </a:solidFill>
              </a:defRPr>
            </a:pPr>
            <a:r>
              <a:t>• Photo Moderation Queue</a:t>
            </a:r>
          </a:p>
          <a:p>
            <a:pPr>
              <a:defRPr sz="1050" b="1">
                <a:solidFill>
                  <a:srgbClr val="D97706"/>
                </a:solidFill>
              </a:defRPr>
            </a:pPr>
            <a:r>
              <a:t>  [Mitigation: AI NSFW filter]</a:t>
            </a:r>
          </a:p>
          <a:p>
            <a:pPr>
              <a:defRPr sz="1000">
                <a:solidFill>
                  <a:srgbClr val="535766"/>
                </a:solidFill>
              </a:defRPr>
            </a:pPr>
            <a:r>
              <a:t>  Prevents invalid buyer photos.</a:t>
            </a:r>
          </a:p>
          <a:p>
            <a:br/>
            <a:pPr>
              <a:defRPr sz="1150" b="1">
                <a:solidFill>
                  <a:srgbClr val="282C3F"/>
                </a:solidFill>
              </a:defRPr>
            </a:pPr>
            <a:r>
              <a:t>• CDN Model Latency</a:t>
            </a:r>
          </a:p>
          <a:p>
            <a:pPr>
              <a:defRPr sz="1050" b="1">
                <a:solidFill>
                  <a:srgbClr val="D97706"/>
                </a:solidFill>
              </a:defRPr>
            </a:pPr>
            <a:r>
              <a:t>  [Guardrail: &lt;50ms overhead]</a:t>
            </a:r>
          </a:p>
          <a:p>
            <a:pPr>
              <a:defRPr sz="1000">
                <a:solidFill>
                  <a:srgbClr val="535766"/>
                </a:solidFill>
              </a:defRPr>
            </a:pPr>
            <a:r>
              <a:t>  Pre-computes price sparklines.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10 | ROLLOUT ROADMAP &amp; NEXT STEPS</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Phased 4-Stage Rollout Strategy Maximizes Zero-Discount LTV Impact across Myntra App</a:t>
            </a:r>
          </a:p>
        </p:txBody>
      </p:sp>
      <p:sp>
        <p:nvSpPr>
          <p:cNvPr id="6" name="Rounded Rectangle 5"/>
          <p:cNvSpPr/>
          <p:nvPr/>
        </p:nvSpPr>
        <p:spPr>
          <a:xfrm>
            <a:off x="548640" y="1234440"/>
            <a:ext cx="2651760"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53312"/>
            <a:ext cx="2468880" cy="4937760"/>
          </a:xfrm>
          <a:prstGeom prst="rect">
            <a:avLst/>
          </a:prstGeom>
          <a:noFill/>
        </p:spPr>
        <p:txBody>
          <a:bodyPr wrap="square">
            <a:spAutoFit/>
          </a:bodyPr>
          <a:lstStyle/>
          <a:p>
            <a:pPr>
              <a:defRPr sz="1000" b="1">
                <a:solidFill>
                  <a:srgbClr val="FF3F6C"/>
                </a:solidFill>
              </a:defRPr>
            </a:pPr>
            <a:r>
              <a:t>STAGE 01</a:t>
            </a:r>
          </a:p>
          <a:p>
            <a:pPr>
              <a:defRPr sz="1200" b="1">
                <a:solidFill>
                  <a:srgbClr val="282C3F"/>
                </a:solidFill>
              </a:defRPr>
            </a:pPr>
            <a:r>
              <a:t>Phase 1: Alpha &amp; Core Loop</a:t>
            </a:r>
          </a:p>
          <a:p>
            <a:pPr>
              <a:defRPr sz="1000" b="1">
                <a:solidFill>
                  <a:srgbClr val="03A685"/>
                </a:solidFill>
              </a:defRPr>
            </a:pPr>
            <a:r>
              <a:t>[Week 1–3 | 1% MAU]</a:t>
            </a:r>
          </a:p>
          <a:p>
            <a:br/>
            <a:pPr>
              <a:defRPr sz="1000">
                <a:solidFill>
                  <a:srgbClr val="535766"/>
                </a:solidFill>
              </a:defRPr>
            </a:pPr>
            <a:r>
              <a:t>Invite-only High-Intent Wishlist Accumulators; validate FitConfidence scoring (88% rating) &amp; height/weight buyer photo reels over 2-week window.</a:t>
            </a:r>
          </a:p>
        </p:txBody>
      </p:sp>
      <p:sp>
        <p:nvSpPr>
          <p:cNvPr id="8" name="Rounded Rectangle 7"/>
          <p:cNvSpPr/>
          <p:nvPr/>
        </p:nvSpPr>
        <p:spPr>
          <a:xfrm>
            <a:off x="3337560" y="1234440"/>
            <a:ext cx="265176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353312"/>
            <a:ext cx="2468880" cy="4937760"/>
          </a:xfrm>
          <a:prstGeom prst="rect">
            <a:avLst/>
          </a:prstGeom>
          <a:noFill/>
        </p:spPr>
        <p:txBody>
          <a:bodyPr wrap="square">
            <a:spAutoFit/>
          </a:bodyPr>
          <a:lstStyle/>
          <a:p>
            <a:pPr>
              <a:defRPr sz="1000" b="1">
                <a:solidFill>
                  <a:srgbClr val="D97706"/>
                </a:solidFill>
              </a:defRPr>
            </a:pPr>
            <a:r>
              <a:t>STAGE 02</a:t>
            </a:r>
          </a:p>
          <a:p>
            <a:pPr>
              <a:defRPr sz="1200" b="1">
                <a:solidFill>
                  <a:srgbClr val="282C3F"/>
                </a:solidFill>
              </a:defRPr>
            </a:pPr>
            <a:r>
              <a:t>Phase 2: Targeted Beta</a:t>
            </a:r>
          </a:p>
          <a:p>
            <a:pPr>
              <a:defRPr sz="1000" b="1">
                <a:solidFill>
                  <a:srgbClr val="03A685"/>
                </a:solidFill>
              </a:defRPr>
            </a:pPr>
            <a:r>
              <a:t>[Week 4–6 | 10% MAU]</a:t>
            </a:r>
          </a:p>
          <a:p>
            <a:br/>
            <a:pPr>
              <a:defRPr sz="1000">
                <a:solidFill>
                  <a:srgbClr val="535766"/>
                </a:solidFill>
              </a:defRPr>
            </a:pPr>
            <a:r>
              <a:t>Expand to Metro + Tier-2/3 fashion clusters; test Smart Occasion Folders, dismiss fatigue &amp; CDN load latency (&lt;50ms).</a:t>
            </a:r>
          </a:p>
        </p:txBody>
      </p:sp>
      <p:sp>
        <p:nvSpPr>
          <p:cNvPr id="10" name="Rounded Rectangle 9"/>
          <p:cNvSpPr/>
          <p:nvPr/>
        </p:nvSpPr>
        <p:spPr>
          <a:xfrm>
            <a:off x="6126479" y="1234440"/>
            <a:ext cx="265176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353312"/>
            <a:ext cx="2468880" cy="4937760"/>
          </a:xfrm>
          <a:prstGeom prst="rect">
            <a:avLst/>
          </a:prstGeom>
          <a:noFill/>
        </p:spPr>
        <p:txBody>
          <a:bodyPr wrap="square">
            <a:spAutoFit/>
          </a:bodyPr>
          <a:lstStyle/>
          <a:p>
            <a:pPr>
              <a:defRPr sz="1000" b="1">
                <a:solidFill>
                  <a:srgbClr val="D97706"/>
                </a:solidFill>
              </a:defRPr>
            </a:pPr>
            <a:r>
              <a:t>STAGE 03</a:t>
            </a:r>
          </a:p>
          <a:p>
            <a:pPr>
              <a:defRPr sz="1200" b="1">
                <a:solidFill>
                  <a:srgbClr val="282C3F"/>
                </a:solidFill>
              </a:defRPr>
            </a:pPr>
            <a:r>
              <a:t>Phase 3: General Availability</a:t>
            </a:r>
          </a:p>
          <a:p>
            <a:pPr>
              <a:defRPr sz="1000" b="1">
                <a:solidFill>
                  <a:srgbClr val="03A685"/>
                </a:solidFill>
              </a:defRPr>
            </a:pPr>
            <a:r>
              <a:t>[Week 7+ | 100% Rollout]</a:t>
            </a:r>
          </a:p>
          <a:p>
            <a:br/>
            <a:pPr>
              <a:defRPr sz="1000">
                <a:solidFill>
                  <a:srgbClr val="535766"/>
                </a:solidFill>
              </a:defRPr>
            </a:pPr>
            <a:r>
              <a:t>Full rollout across iOS &amp; Android app. FitConfidence live by default on Wishlist &amp; Checkout drawer; zero-discount gate.</a:t>
            </a:r>
          </a:p>
        </p:txBody>
      </p:sp>
      <p:sp>
        <p:nvSpPr>
          <p:cNvPr id="12" name="Rounded Rectangle 11"/>
          <p:cNvSpPr/>
          <p:nvPr/>
        </p:nvSpPr>
        <p:spPr>
          <a:xfrm>
            <a:off x="8915399" y="1234440"/>
            <a:ext cx="265176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39" y="1353312"/>
            <a:ext cx="2468880" cy="4937760"/>
          </a:xfrm>
          <a:prstGeom prst="rect">
            <a:avLst/>
          </a:prstGeom>
          <a:noFill/>
        </p:spPr>
        <p:txBody>
          <a:bodyPr wrap="square">
            <a:spAutoFit/>
          </a:bodyPr>
          <a:lstStyle/>
          <a:p>
            <a:pPr>
              <a:defRPr sz="1000" b="1">
                <a:solidFill>
                  <a:srgbClr val="D97706"/>
                </a:solidFill>
              </a:defRPr>
            </a:pPr>
            <a:r>
              <a:t>STAGE 04</a:t>
            </a:r>
          </a:p>
          <a:p>
            <a:pPr>
              <a:defRPr sz="1200" b="1">
                <a:solidFill>
                  <a:srgbClr val="282C3F"/>
                </a:solidFill>
              </a:defRPr>
            </a:pPr>
            <a:r>
              <a:t>Phase 4: Non-Monetary Layer</a:t>
            </a:r>
          </a:p>
          <a:p>
            <a:pPr>
              <a:defRPr sz="1000" b="1">
                <a:solidFill>
                  <a:srgbClr val="03A685"/>
                </a:solidFill>
              </a:defRPr>
            </a:pPr>
            <a:r>
              <a:t>[Quarterly Follow-up]</a:t>
            </a:r>
          </a:p>
          <a:p>
            <a:br/>
            <a:pPr>
              <a:defRPr sz="1000">
                <a:solidFill>
                  <a:srgbClr val="535766"/>
                </a:solidFill>
              </a:defRPr>
            </a:pPr>
            <a:r>
              <a:t>Introduce restock alerts for wishlisted sizes, cross-category occasion lookbook pairings, and per-category risk weighting.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
            <a:ext cx="2926080" cy="256032"/>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3F6C"/>
                </a:solidFill>
              </a:defRPr>
            </a:pPr>
            <a:r>
              <a:t>SLIDE 11 | MONETIZATION, CHANNELS &amp; RISKS</a:t>
            </a:r>
          </a:p>
        </p:txBody>
      </p:sp>
      <p:sp>
        <p:nvSpPr>
          <p:cNvPr id="5" name="TextBox 4"/>
          <p:cNvSpPr txBox="1"/>
          <p:nvPr/>
        </p:nvSpPr>
        <p:spPr>
          <a:xfrm>
            <a:off x="548640" y="420624"/>
            <a:ext cx="11094415" cy="548640"/>
          </a:xfrm>
          <a:prstGeom prst="rect">
            <a:avLst/>
          </a:prstGeom>
          <a:noFill/>
        </p:spPr>
        <p:txBody>
          <a:bodyPr wrap="square">
            <a:spAutoFit/>
          </a:bodyPr>
          <a:lstStyle/>
          <a:p>
            <a:pPr>
              <a:defRPr sz="1900" b="1">
                <a:solidFill>
                  <a:srgbClr val="282C3F"/>
                </a:solidFill>
              </a:defRPr>
            </a:pPr>
            <a:r>
              <a:t>Tiers of Monetization, In-App Distribution Channels &amp; Risk Mitigation Architecture</a:t>
            </a:r>
          </a:p>
        </p:txBody>
      </p:sp>
      <p:sp>
        <p:nvSpPr>
          <p:cNvPr id="6" name="Rounded Rectangle 5"/>
          <p:cNvSpPr/>
          <p:nvPr/>
        </p:nvSpPr>
        <p:spPr>
          <a:xfrm>
            <a:off x="548640" y="1234440"/>
            <a:ext cx="3474720" cy="5212080"/>
          </a:xfrm>
          <a:prstGeom prst="roundRect">
            <a:avLst/>
          </a:prstGeom>
          <a:solidFill>
            <a:srgbClr val="FFF0F5"/>
          </a:solidFill>
          <a:ln>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53312"/>
            <a:ext cx="3200400" cy="4937760"/>
          </a:xfrm>
          <a:prstGeom prst="rect">
            <a:avLst/>
          </a:prstGeom>
          <a:noFill/>
        </p:spPr>
        <p:txBody>
          <a:bodyPr wrap="square">
            <a:spAutoFit/>
          </a:bodyPr>
          <a:lstStyle/>
          <a:p>
            <a:pPr>
              <a:defRPr sz="1200" b="1">
                <a:solidFill>
                  <a:srgbClr val="FF3F6C"/>
                </a:solidFill>
              </a:defRPr>
            </a:pPr>
            <a:r>
              <a:t>TIERS OF MONETIZATION</a:t>
            </a:r>
          </a:p>
          <a:p>
            <a:br/>
            <a:pPr>
              <a:defRPr sz="1050" b="1">
                <a:solidFill>
                  <a:srgbClr val="282C3F"/>
                </a:solidFill>
              </a:defRPr>
            </a:pPr>
            <a:r>
              <a:t>• Free Tier (Organic Discovery)</a:t>
            </a:r>
          </a:p>
          <a:p>
            <a:pPr>
              <a:defRPr sz="950">
                <a:solidFill>
                  <a:srgbClr val="535766"/>
                </a:solidFill>
              </a:defRPr>
            </a:pPr>
            <a:r>
              <a:t>  AI-scored FitConfidence overlays shown at no cost; Myntra absorbs compute cost as an LTV investment.</a:t>
            </a:r>
          </a:p>
          <a:p>
            <a:br/>
            <a:pPr>
              <a:defRPr sz="1050" b="1">
                <a:solidFill>
                  <a:srgbClr val="282C3F"/>
                </a:solidFill>
              </a:defRPr>
            </a:pPr>
            <a:r>
              <a:t>• Brand Partner Co-Op (B2B)</a:t>
            </a:r>
          </a:p>
          <a:p>
            <a:pPr>
              <a:defRPr sz="950">
                <a:solidFill>
                  <a:srgbClr val="535766"/>
                </a:solidFill>
              </a:defRPr>
            </a:pPr>
            <a:r>
              <a:t>  Category fashion brands pay for priority inclusion in candidate pool — still strictly gated by 50% relevance &amp; 88% fit score.</a:t>
            </a:r>
          </a:p>
          <a:p>
            <a:br/>
            <a:pPr>
              <a:defRPr sz="1050" b="1">
                <a:solidFill>
                  <a:srgbClr val="282C3F"/>
                </a:solidFill>
              </a:defRPr>
            </a:pPr>
            <a:r>
              <a:t>• Myntra Insider Loyalty</a:t>
            </a:r>
          </a:p>
          <a:p>
            <a:pPr>
              <a:defRPr sz="950">
                <a:solidFill>
                  <a:srgbClr val="535766"/>
                </a:solidFill>
              </a:defRPr>
            </a:pPr>
            <a:r>
              <a:t>  Loyalty members get first access to verified buyer photo reels, 1-tap occasion customization &amp; free doorstep return validation.</a:t>
            </a:r>
          </a:p>
        </p:txBody>
      </p:sp>
      <p:sp>
        <p:nvSpPr>
          <p:cNvPr id="8" name="Rounded Rectangle 7"/>
          <p:cNvSpPr/>
          <p:nvPr/>
        </p:nvSpPr>
        <p:spPr>
          <a:xfrm>
            <a:off x="4297680" y="1234440"/>
            <a:ext cx="3474720"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353312"/>
            <a:ext cx="3200400" cy="4937760"/>
          </a:xfrm>
          <a:prstGeom prst="rect">
            <a:avLst/>
          </a:prstGeom>
          <a:noFill/>
        </p:spPr>
        <p:txBody>
          <a:bodyPr wrap="square">
            <a:spAutoFit/>
          </a:bodyPr>
          <a:lstStyle/>
          <a:p>
            <a:pPr>
              <a:defRPr sz="1200" b="1">
                <a:solidFill>
                  <a:srgbClr val="D97706"/>
                </a:solidFill>
              </a:defRPr>
            </a:pPr>
            <a:r>
              <a:t>DISTRIBUTION CHANNELS</a:t>
            </a:r>
          </a:p>
          <a:p>
            <a:br/>
            <a:pPr>
              <a:defRPr sz="1050" b="1">
                <a:solidFill>
                  <a:srgbClr val="282C3F"/>
                </a:solidFill>
              </a:defRPr>
            </a:pPr>
            <a:r>
              <a:t>📲 Internal Triggers</a:t>
            </a:r>
          </a:p>
          <a:p>
            <a:pPr>
              <a:defRPr sz="950">
                <a:solidFill>
                  <a:srgbClr val="535766"/>
                </a:solidFill>
              </a:defRPr>
            </a:pPr>
            <a:r>
              <a:t>  Dismiss-trap intercept: 2 dismissals triggers quick 'What would help size choice?' prompt. Cart-page live widget: FitConfidence rail visible directly on Wishlist/Cart.</a:t>
            </a:r>
          </a:p>
          <a:p>
            <a:br/>
            <a:pPr>
              <a:defRPr sz="1050" b="1">
                <a:solidFill>
                  <a:srgbClr val="282C3F"/>
                </a:solidFill>
              </a:defRPr>
            </a:pPr>
            <a:r>
              <a:t>📲 External Triggers</a:t>
            </a:r>
          </a:p>
          <a:p>
            <a:pPr>
              <a:defRPr sz="950">
                <a:solidFill>
                  <a:srgbClr val="535766"/>
                </a:solidFill>
              </a:defRPr>
            </a:pPr>
            <a:r>
              <a:t>  Price Floor &amp; Stock Nudge: WhatsApp/SMS trigger when wishlisted item reaches 60-day price floor. Notification re-engagement: Push nudge if occasion folder viewed 48h ago.</a:t>
            </a:r>
          </a:p>
        </p:txBody>
      </p:sp>
      <p:sp>
        <p:nvSpPr>
          <p:cNvPr id="10" name="Rounded Rectangle 9"/>
          <p:cNvSpPr/>
          <p:nvPr/>
        </p:nvSpPr>
        <p:spPr>
          <a:xfrm>
            <a:off x="8046720" y="1234440"/>
            <a:ext cx="3593592" cy="5212080"/>
          </a:xfrm>
          <a:prstGeom prst="roundRect">
            <a:avLst/>
          </a:prstGeom>
          <a:solidFill>
            <a:srgbClr val="FFFFFF"/>
          </a:solidFill>
          <a:ln>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353312"/>
            <a:ext cx="3319272" cy="4937760"/>
          </a:xfrm>
          <a:prstGeom prst="rect">
            <a:avLst/>
          </a:prstGeom>
          <a:noFill/>
        </p:spPr>
        <p:txBody>
          <a:bodyPr wrap="square">
            <a:spAutoFit/>
          </a:bodyPr>
          <a:lstStyle/>
          <a:p>
            <a:pPr>
              <a:defRPr sz="1200" b="1">
                <a:solidFill>
                  <a:srgbClr val="03A685"/>
                </a:solidFill>
              </a:defRPr>
            </a:pPr>
            <a:r>
              <a:t>RISKS &amp; MITIGATIONS</a:t>
            </a:r>
          </a:p>
          <a:p>
            <a:br/>
            <a:pPr>
              <a:defRPr sz="1050" b="1">
                <a:solidFill>
                  <a:srgbClr val="282C3F"/>
                </a:solidFill>
              </a:defRPr>
            </a:pPr>
            <a:r>
              <a:t>⚠️ Technical: Latency Drag</a:t>
            </a:r>
          </a:p>
          <a:p>
            <a:pPr>
              <a:defRPr sz="950">
                <a:solidFill>
                  <a:srgbClr val="535766"/>
                </a:solidFill>
              </a:defRPr>
            </a:pPr>
            <a:r>
              <a:t>  Instant Heuristic Fallback: If AI call doesn't return within ~1.5s, fall back to static brand fit rating — checkout never waits.</a:t>
            </a:r>
          </a:p>
          <a:p>
            <a:br/>
            <a:pPr>
              <a:defRPr sz="1050" b="1">
                <a:solidFill>
                  <a:srgbClr val="282C3F"/>
                </a:solidFill>
              </a:defRPr>
            </a:pPr>
            <a:r>
              <a:t>⚠️ Engagement: Nudge Fatigue</a:t>
            </a:r>
          </a:p>
          <a:p>
            <a:pPr>
              <a:defRPr sz="950">
                <a:solidFill>
                  <a:srgbClr val="535766"/>
                </a:solidFill>
              </a:defRPr>
            </a:pPr>
            <a:r>
              <a:t>  Frequency Cap + Mute: Cap suggestions per category per week; let users mute category type outright rather than dismiss every session.</a:t>
            </a:r>
          </a:p>
          <a:p>
            <a:br/>
            <a:pPr>
              <a:defRPr sz="1050" b="1">
                <a:solidFill>
                  <a:srgbClr val="282C3F"/>
                </a:solidFill>
              </a:defRPr>
            </a:pPr>
            <a:r>
              <a:t>⚠️ Analytical: Conflicting Signals</a:t>
            </a:r>
          </a:p>
          <a:p>
            <a:pPr>
              <a:defRPr sz="950">
                <a:solidFill>
                  <a:srgbClr val="535766"/>
                </a:solidFill>
              </a:defRPr>
            </a:pPr>
            <a:r>
              <a:t>  Signal Decay: Weight explicit negative feedback down over time so stale 'Irrelevant' flag doesn't permanently suppress active categories.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